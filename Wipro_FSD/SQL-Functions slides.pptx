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Brygada 1918" panose="020B0604020202020204" charset="0"/>
      <p:regular r:id="rId14"/>
    </p:embeddedFont>
    <p:embeddedFont>
      <p:font typeface="Brygada 1918 Semi Bold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34" y="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136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649D9-FA06-5AAD-FF23-987C8F6DE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C2C1D-1096-5F1A-2F98-9982EA618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CEEDB-1C14-5D53-759F-645CC921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470B9-CAE2-4E95-AFF4-1F63845F8C9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17534-9552-BADF-9081-F5FE81DC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9F2BC-2E0F-1BD9-C175-E62D8A65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62E3-FAAB-4C07-A819-E44630D94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04483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8AB48-008C-16D6-4197-BFD0AD5F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DEE6A-793C-973F-3B91-098FDCB90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4F184-2AE5-F266-BBFD-31193A2FA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470B9-CAE2-4E95-AFF4-1F63845F8C9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D5741-7B8C-D8EC-4EEA-D8B701BF9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B5D6E-324B-1020-C701-97F0DC24F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62E3-FAAB-4C07-A819-E44630D94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1298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B3B7-5565-46E4-EFAA-EB9928D23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B759C-498E-C8D5-19B7-C7DFBE1EC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58A8A-60A8-DA25-04B7-C2E0032AE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470B9-CAE2-4E95-AFF4-1F63845F8C9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4C772-87CE-1CBA-D461-8EBE8D52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2A57B-1DC8-9B15-7C2E-EB003A5B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62E3-FAAB-4C07-A819-E44630D94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2545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04AC-F8C8-CB01-2ED6-8DCE3A13B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E9F3-7AD9-7C2E-3CF8-727755CA6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0FF67-3EC1-654F-4FC2-21AA7E18D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D2907-14CB-6E4F-737B-1C4D76D06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470B9-CAE2-4E95-AFF4-1F63845F8C9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61EE0-E09E-0523-F7CC-A4734CD4F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C0E32-80B1-B16F-EF64-B317B1E3A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62E3-FAAB-4C07-A819-E44630D94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7290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346A-7E1D-67E6-4B2D-FB4C7F9DA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0C848-845C-4DD4-483E-930A6F58B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0CC79-B422-47CB-8666-325EBAC97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29B03-0D12-8EF1-6751-2C29EB6CA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45CEC-C402-B3DF-3D79-013CC537A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FC2698-EB2C-BFC6-AA75-91EA6771D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470B9-CAE2-4E95-AFF4-1F63845F8C9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724713-2136-08C7-2823-A2449D301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457BC-8F18-CB3A-7848-1CB8F05A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62E3-FAAB-4C07-A819-E44630D94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3327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F37D-3ED9-91F1-C7CB-4570C8AF6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708BA-4242-1447-CF97-2BCCC7C95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470B9-CAE2-4E95-AFF4-1F63845F8C9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F555A-0C73-96DF-8164-87866C0A2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4D12E-97D7-FDED-1CEB-918C0AC1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62E3-FAAB-4C07-A819-E44630D94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1498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84A4E-9D51-9E91-CB12-01C2B070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470B9-CAE2-4E95-AFF4-1F63845F8C9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8D2182-D949-E6A7-39F5-C41A6A6E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321B0-3BB0-6366-C0B0-87D2AC114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62E3-FAAB-4C07-A819-E44630D94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65765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57845-A3C6-CD4E-FE39-2D237B780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B9E61-6FFE-ED56-A5E7-8636904A2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4C2EA-A5E2-731E-A656-7EE66A601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6CE8E-CDB7-C059-0229-DA5877875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470B9-CAE2-4E95-AFF4-1F63845F8C9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A97E6-DB3A-D504-3FFF-7C9E0E1D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CB3B6-C4DE-B2FB-E840-EB0175780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62E3-FAAB-4C07-A819-E44630D94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3534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41B38-2C06-8FF0-1D5B-640257E05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C448C1-86F8-5C2F-C385-9551EF5F5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3EB3B-FAEF-82E2-4681-743A9A9E3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BF715-6EB6-2CD2-3FFC-339A68EF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470B9-CAE2-4E95-AFF4-1F63845F8C9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28E6A-9C56-8D88-E709-14D9CE17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B7464-935B-1024-53C7-8E844A27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62E3-FAAB-4C07-A819-E44630D94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0494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DDA2-DDF2-3469-3366-429EAF96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11643-9930-3B6C-12E8-78CAFA514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762B0-B3DD-FB25-E1DD-6DFAB221C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470B9-CAE2-4E95-AFF4-1F63845F8C9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33737-7422-2DB5-A7D9-8024F6BAE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69A2C-95FD-F148-6F51-DD58ED63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62E3-FAAB-4C07-A819-E44630D94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4788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3CDF9-ADE8-86D1-1FE4-DECBF7DED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A209F-A766-1CEC-FB26-E2956B648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4ED4-F7A8-E470-0685-A571A5623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470B9-CAE2-4E95-AFF4-1F63845F8C9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BDA25-F937-B5C2-61F5-A84A0DF46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7869E-BCC1-C3E5-8A18-B59868794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562E3-FAAB-4C07-A819-E44630D94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4667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441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924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939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30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466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081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2906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3556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3757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316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609361-D1DF-F831-4853-C2EEB2516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7C546-12D9-276F-8093-C2BAEBC37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9122D-5070-F813-0679-C40EE30467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1470B9-CAE2-4E95-AFF4-1F63845F8C96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64E89-524E-1108-64B7-A0CFC7683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B86F5-E34C-4C28-C009-A80602D2E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562E3-FAAB-4C07-A819-E44630D941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77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/>
          </a:blip>
          <a:srcRect t="34718" r="-1" b="31570"/>
          <a:stretch>
            <a:fillRect/>
          </a:stretch>
        </p:blipFill>
        <p:spPr>
          <a:xfrm>
            <a:off x="5457524" y="10385"/>
            <a:ext cx="9172874" cy="4417687"/>
          </a:xfrm>
          <a:prstGeom prst="rect">
            <a:avLst/>
          </a:prstGeom>
        </p:spPr>
      </p:pic>
      <p:pic>
        <p:nvPicPr>
          <p:cNvPr id="1026" name="Picture 2" descr="5,800+ Sql Stock Photos, Pictures &amp; Royalty-Free Images ...">
            <a:extLst>
              <a:ext uri="{FF2B5EF4-FFF2-40B4-BE49-F238E27FC236}">
                <a16:creationId xmlns:a16="http://schemas.microsoft.com/office/drawing/2014/main" id="{AF6122DA-9DF8-F328-9DD3-2E409CB2C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95" r="-1" b="9219"/>
          <a:stretch>
            <a:fillRect/>
          </a:stretch>
        </p:blipFill>
        <p:spPr bwMode="auto">
          <a:xfrm>
            <a:off x="5457525" y="4428081"/>
            <a:ext cx="9172875" cy="3811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1005840" y="1338262"/>
            <a:ext cx="6475094" cy="28651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SQL Functions</a:t>
            </a:r>
          </a:p>
        </p:txBody>
      </p:sp>
      <p:sp>
        <p:nvSpPr>
          <p:cNvPr id="4" name="Text 1"/>
          <p:cNvSpPr/>
          <p:nvPr/>
        </p:nvSpPr>
        <p:spPr>
          <a:xfrm>
            <a:off x="1005840" y="4682490"/>
            <a:ext cx="6475094" cy="1986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Transform raw data into meaningful insights with the essential tools of modern database management.</a:t>
            </a:r>
          </a:p>
        </p:txBody>
      </p:sp>
      <p:cxnSp>
        <p:nvCxnSpPr>
          <p:cNvPr id="1046" name="Straight Connector 1045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05840" y="4417689"/>
            <a:ext cx="1362455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6205" y="539813"/>
            <a:ext cx="67289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What are SQL Functions?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345840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438" y="15546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Mini-Programs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15438" y="215985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Think of them as tiny programs built into your database that perform specific tasks automatically.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45840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15390" y="46482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Input &amp; Output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115438" y="5586239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They accept data as input, process it in some way, and return a transformed result.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6622213" y="21598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Query Power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486011" y="3036483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Essential for manipulating, calculating, and transforming data directly within your SQL queries.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9136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95507"/>
            <a:ext cx="65967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Why Use SQL Functions?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017306" y="2322314"/>
            <a:ext cx="31938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Simplify Complex Tasks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2812733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Instead of writing long, complicated code blocks, a single function can accomplish the same task in one line.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017306" y="4070033"/>
            <a:ext cx="28510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Perform Calculations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17306" y="456045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Easily do mathematical operations like finding averages, sums, or complex statistical calculations on your data.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017306" y="58177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Manipulate Data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630816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Change text formatting (like making it uppercase), work with dates and times, or transform data types effortlessly.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499" y="438367"/>
            <a:ext cx="101115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Common Function Types: Math &amp; Text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47081" y="1558257"/>
            <a:ext cx="391156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Mathematical Functions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165800"/>
            <a:ext cx="6244709" cy="1750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ABS() 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- Get absolute values</a:t>
            </a:r>
            <a:endParaRPr lang="en-US" sz="1750" dirty="0"/>
          </a:p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ROUND() 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- Round numbers to specific decimal places</a:t>
            </a:r>
            <a:endParaRPr lang="en-US" sz="1750" dirty="0"/>
          </a:p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AVG() 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- Calculate averages across data sets</a:t>
            </a:r>
            <a:endParaRPr lang="en-US" sz="1750" dirty="0"/>
          </a:p>
          <a:p>
            <a:pPr marL="285750" indent="-285750" algn="l">
              <a:lnSpc>
                <a:spcPts val="28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SQRT() 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- Find square roots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63953" y="431334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String Functions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606439" y="5421154"/>
            <a:ext cx="6244709" cy="1750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UPPER() 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- Convert text to uppercase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LOWER() 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- Convert text to lowercase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LEN() 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- Get character count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TRIM()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- Remove extra spaces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636" y="592542"/>
            <a:ext cx="120788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Common Function Types: Dates &amp; Aggregates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885230" y="15966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Date Functions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7464" y="2309067"/>
            <a:ext cx="6151894" cy="1655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GETDATE()</a:t>
            </a: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- Retrieve current date and time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DATEPART()</a:t>
            </a: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 - Extract specific parts (year, month, day)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DATEDIFF()</a:t>
            </a: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- Calculate differences between dates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85230" y="4606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Aggregate Functions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2046" y="5449922"/>
            <a:ext cx="5802035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SUM()</a:t>
            </a: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- Calculate total of values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COUNT()</a:t>
            </a: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- Count number of items or rows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MAX()</a:t>
            </a: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and </a:t>
            </a:r>
            <a:r>
              <a:rPr lang="en-US" sz="1750" b="1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MIN() </a:t>
            </a: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- Find highest and lowest values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2900" y="469822"/>
            <a:ext cx="1132201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Example: Making Data Shine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58383" y="1710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58383" y="2370178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Customer names stored in inconsistent mixed cases throughout your database.</a:t>
            </a:r>
            <a:endParaRPr lang="en-US" sz="1750" dirty="0"/>
          </a:p>
        </p:txBody>
      </p:sp>
      <p:sp>
        <p:nvSpPr>
          <p:cNvPr id="8" name="Text 3"/>
          <p:cNvSpPr/>
          <p:nvPr/>
        </p:nvSpPr>
        <p:spPr>
          <a:xfrm>
            <a:off x="658382" y="37596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58383" y="4652248"/>
            <a:ext cx="6195536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/>
              <a:t>SELECT UPPER(</a:t>
            </a:r>
            <a:r>
              <a:rPr lang="en-US" sz="1750" b="1" dirty="0" err="1"/>
              <a:t>customer_name</a:t>
            </a:r>
            <a:r>
              <a:rPr lang="en-US" sz="1750" b="1" dirty="0"/>
              <a:t>) FROM customers;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b="1" dirty="0"/>
          </a:p>
        </p:txBody>
      </p:sp>
      <p:sp>
        <p:nvSpPr>
          <p:cNvPr id="11" name="Text 5"/>
          <p:cNvSpPr/>
          <p:nvPr/>
        </p:nvSpPr>
        <p:spPr>
          <a:xfrm>
            <a:off x="658383" y="5630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Result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58382" y="6391275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All names transformed to uppercase instantly, creating consistent, professional data formatting.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5341"/>
            <a:ext cx="81985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Example: Calculating Averages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510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Scenario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4263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You need to determine the average order value for your business analysis. Instead of manual calculations, let SQL do the work.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061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SQL Code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599521" y="3660577"/>
            <a:ext cx="6244709" cy="1542336"/>
          </a:xfrm>
          <a:prstGeom prst="roundRect">
            <a:avLst>
              <a:gd name="adj" fmla="val 22060"/>
            </a:avLst>
          </a:prstGeom>
          <a:solidFill>
            <a:srgbClr val="E9DE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588210" y="3660577"/>
            <a:ext cx="6267331" cy="1542336"/>
          </a:xfrm>
          <a:prstGeom prst="roundRect">
            <a:avLst>
              <a:gd name="adj" fmla="val 2206"/>
            </a:avLst>
          </a:prstGeom>
          <a:solidFill>
            <a:srgbClr val="E9DE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871698" y="3887391"/>
            <a:ext cx="570035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AVG(order_total) 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73A49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order_date &gt; '2024-01-01';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713214"/>
            <a:ext cx="13042821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  AVG() function automatically processes all qualifying orders, sums their totals, and divides by the count—delivering the average in seconds.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80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Beyond the Basics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21280"/>
            <a:ext cx="3700105" cy="2286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1916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Built-In Libraries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682020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Major databases like SQL Server, Oracle, and PostgreSQL offer hundreds of pre-built functions for virtually any data manipulation need.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621280"/>
            <a:ext cx="3700224" cy="2286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51916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Custom Functions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5682020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Create your own specialized functions for unique business requirements, extending SQL's capabilities to match your exact needs.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938451"/>
            <a:ext cx="62293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Power of Functions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1028224" y="1809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Increased Power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2421497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Functions make your SQL queries exponentially more powerful by adding advanced processing capabilities.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632556" y="19094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Enhanced Flexibility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632556" y="2548395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Combine multiple functions to create sophisticated data transformations that adapt to changing requirements.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28224" y="4883571"/>
            <a:ext cx="28927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Improved Readability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5879" y="5500077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Well-named functions make queries easier to understand, maintain, and share with other team members.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56534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They are fundamental tools that every data professional—from analysts to engineers—relies on daily.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44830"/>
            <a:ext cx="6783348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Real-Time SQL Function Examples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568291" y="1309926"/>
            <a:ext cx="1149369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Explore practical scenarios where SQL functions bring immediate value to data management and analysis.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568291" y="1896357"/>
            <a:ext cx="2758678" cy="52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E-commerce: Revenue Tracking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415296" y="2708564"/>
            <a:ext cx="2758678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Calculate total revenue from orders in the last 30 days to monitor recent sales performance.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368385" y="3586671"/>
            <a:ext cx="2758678" cy="1719739"/>
          </a:xfrm>
          <a:prstGeom prst="roundRect">
            <a:avLst>
              <a:gd name="adj" fmla="val 14529"/>
            </a:avLst>
          </a:prstGeom>
          <a:solidFill>
            <a:srgbClr val="E9DEC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6"/>
          <p:cNvSpPr/>
          <p:nvPr/>
        </p:nvSpPr>
        <p:spPr>
          <a:xfrm>
            <a:off x="1560195" y="3772960"/>
            <a:ext cx="2358866" cy="138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73A49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SUM(order_total) AS total_revenue</a:t>
            </a:r>
            <a:endParaRPr lang="en-US" sz="13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73A49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3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73A49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order_date &gt;= DATEADD(day, -30, GETDATE());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60289" y="5705691"/>
            <a:ext cx="2758678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This query quickly aggregates recent sales data, providing a crucial metric for financial reporting and business strategy.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471630" y="1939409"/>
            <a:ext cx="2758797" cy="52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Customer Service: Data Optimization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375785" y="2695770"/>
            <a:ext cx="2758797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Find the maximum length of customer names to ensure database fields are adequately sized.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339947" y="3793494"/>
            <a:ext cx="2775228" cy="1257538"/>
          </a:xfrm>
          <a:prstGeom prst="roundRect">
            <a:avLst>
              <a:gd name="adj" fmla="val 1987"/>
            </a:avLst>
          </a:prstGeom>
          <a:solidFill>
            <a:srgbClr val="E9DE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4479846" y="3854259"/>
            <a:ext cx="2358985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73A49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MAX(LENGTH(customer_name)) AS max_name_length</a:t>
            </a:r>
            <a:endParaRPr lang="en-US" sz="13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73A49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customers;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279939" y="5601403"/>
            <a:ext cx="2758797" cy="115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Optimizing field sizes prevents data truncation and improves database performance, crucial for efficient customer record management.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315140" y="1934635"/>
            <a:ext cx="2734151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Marketing: Seasonal Trends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230427" y="2630470"/>
            <a:ext cx="2758797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Extract the month from user signup dates to analyze and identify seasonal registration patterns.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283350" y="3620171"/>
            <a:ext cx="2775228" cy="2181939"/>
          </a:xfrm>
          <a:prstGeom prst="roundRect">
            <a:avLst>
              <a:gd name="adj" fmla="val 1145"/>
            </a:avLst>
          </a:prstGeom>
          <a:solidFill>
            <a:srgbClr val="E9DE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7391519" y="3793494"/>
            <a:ext cx="2358985" cy="184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DATEPART(month, signup_date) AS signup_month, COUNT(*) AS total_signups</a:t>
            </a:r>
            <a:endParaRPr lang="en-US" sz="13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users</a:t>
            </a:r>
            <a:endParaRPr lang="en-US" sz="13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DATEPART(month, signup_date)</a:t>
            </a:r>
            <a:endParaRPr lang="en-US" sz="13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2863A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signup_month;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302816" y="5978247"/>
            <a:ext cx="2758797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Understanding seasonal trends allows marketing teams to tailor campaigns and resource allocation for maximum impact.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0218598" y="1890025"/>
            <a:ext cx="2758797" cy="52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Data Cleanup: Product Descriptions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0294977" y="2604135"/>
            <a:ext cx="2758797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Remove extra spaces and standardize product descriptions to ensure data consistency and readability.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10230933" y="3624544"/>
            <a:ext cx="2775228" cy="1257538"/>
          </a:xfrm>
          <a:prstGeom prst="roundRect">
            <a:avLst>
              <a:gd name="adj" fmla="val 1987"/>
            </a:avLst>
          </a:prstGeom>
          <a:solidFill>
            <a:srgbClr val="E9DE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10303193" y="3667244"/>
            <a:ext cx="2358985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73A49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products</a:t>
            </a:r>
            <a:endParaRPr lang="en-US" sz="13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D73A49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 product_description = UPPER(TRIM(product_description));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0207346" y="5240145"/>
            <a:ext cx="2758797" cy="92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Clean and consistent product data improves search functionality, reporting accuracy, and overall user experience.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85AB0-DAE9-45A9-40B2-CD103C7D65FD}"/>
              </a:ext>
            </a:extLst>
          </p:cNvPr>
          <p:cNvSpPr txBox="1"/>
          <p:nvPr/>
        </p:nvSpPr>
        <p:spPr>
          <a:xfrm>
            <a:off x="4873337" y="2919846"/>
            <a:ext cx="81360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2768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811</Words>
  <Application>Microsoft Office PowerPoint</Application>
  <PresentationFormat>Custom</PresentationFormat>
  <Paragraphs>100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 Display</vt:lpstr>
      <vt:lpstr>Brygada 1918 Semi Bold</vt:lpstr>
      <vt:lpstr>Brygada 1918</vt:lpstr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pxj</cp:lastModifiedBy>
  <cp:revision>5</cp:revision>
  <dcterms:created xsi:type="dcterms:W3CDTF">2026-05-02T04:24:25Z</dcterms:created>
  <dcterms:modified xsi:type="dcterms:W3CDTF">2026-05-02T05:29:28Z</dcterms:modified>
</cp:coreProperties>
</file>